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grandir Wide Ultra-Bold" charset="1" panose="00000905000000000000"/>
      <p:regular r:id="rId11"/>
    </p:embeddedFont>
    <p:embeddedFont>
      <p:font typeface="Now" charset="1" panose="00000500000000000000"/>
      <p:regular r:id="rId12"/>
    </p:embeddedFont>
    <p:embeddedFont>
      <p:font typeface="Agrandir Wide" charset="1" panose="00000505000000000000"/>
      <p:regular r:id="rId13"/>
    </p:embeddedFont>
    <p:embeddedFont>
      <p:font typeface="Now Bold" charset="1" panose="00000800000000000000"/>
      <p:regular r:id="rId14"/>
    </p:embeddedFont>
    <p:embeddedFont>
      <p:font typeface="Open Sans" charset="1" panose="020B06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162476" y="-5817934"/>
            <a:ext cx="17012157" cy="17259226"/>
          </a:xfrm>
          <a:custGeom>
            <a:avLst/>
            <a:gdLst/>
            <a:ahLst/>
            <a:cxnLst/>
            <a:rect r="r" b="b" t="t" l="l"/>
            <a:pathLst>
              <a:path h="17259226" w="17012157">
                <a:moveTo>
                  <a:pt x="0" y="0"/>
                </a:moveTo>
                <a:lnTo>
                  <a:pt x="17012158" y="0"/>
                </a:lnTo>
                <a:lnTo>
                  <a:pt x="17012158" y="17259226"/>
                </a:lnTo>
                <a:lnTo>
                  <a:pt x="0" y="17259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9" t="-430" r="0" b="-43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235542"/>
            <a:ext cx="12726510" cy="3629003"/>
            <a:chOff x="0" y="0"/>
            <a:chExt cx="16968680" cy="48386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385675"/>
              <a:ext cx="16968680" cy="186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Agrandir Wide Ultra-Bold"/>
                  <a:ea typeface="Agrandir Wide Ultra-Bold"/>
                  <a:cs typeface="Agrandir Wide Ultra-Bold"/>
                  <a:sym typeface="Agrandir Wide Ultra-Bold"/>
                </a:rPr>
                <a:t>LOJA VIRTUAL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1275"/>
              <a:ext cx="1696868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spc="54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DO CÓDIGO AO MUNDO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214677"/>
              <a:ext cx="16968680" cy="580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2349">
                  <a:solidFill>
                    <a:srgbClr val="FFFFFF"/>
                  </a:solidFill>
                  <a:latin typeface="Agrandir Wide Ultra-Bold"/>
                  <a:ea typeface="Agrandir Wide Ultra-Bold"/>
                  <a:cs typeface="Agrandir Wide Ultra-Bold"/>
                  <a:sym typeface="Agrandir Wide Ultra-Bold"/>
                </a:rPr>
                <a:t>TADS 2026.1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499102" y="2174025"/>
            <a:ext cx="6512216" cy="5418844"/>
          </a:xfrm>
          <a:custGeom>
            <a:avLst/>
            <a:gdLst/>
            <a:ahLst/>
            <a:cxnLst/>
            <a:rect r="r" b="b" t="t" l="l"/>
            <a:pathLst>
              <a:path h="5418844" w="6512216">
                <a:moveTo>
                  <a:pt x="0" y="0"/>
                </a:moveTo>
                <a:lnTo>
                  <a:pt x="6512216" y="0"/>
                </a:lnTo>
                <a:lnTo>
                  <a:pt x="6512216" y="5418843"/>
                </a:lnTo>
                <a:lnTo>
                  <a:pt x="0" y="54188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821497"/>
            <a:ext cx="7882467" cy="2679883"/>
            <a:chOff x="0" y="0"/>
            <a:chExt cx="10509956" cy="357317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0"/>
              <a:ext cx="10509956" cy="278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grandir Wide Ultra-Bold"/>
                  <a:ea typeface="Agrandir Wide Ultra-Bold"/>
                  <a:cs typeface="Agrandir Wide Ultra-Bold"/>
                  <a:sym typeface="Agrandir Wide Ultra-Bold"/>
                </a:rPr>
                <a:t>Como o sistema nasce?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896479"/>
              <a:ext cx="10509956" cy="689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28600" y="-275658"/>
            <a:ext cx="16686973" cy="4814229"/>
          </a:xfrm>
          <a:custGeom>
            <a:avLst/>
            <a:gdLst/>
            <a:ahLst/>
            <a:cxnLst/>
            <a:rect r="r" b="b" t="t" l="l"/>
            <a:pathLst>
              <a:path h="4814229" w="16686973">
                <a:moveTo>
                  <a:pt x="0" y="0"/>
                </a:moveTo>
                <a:lnTo>
                  <a:pt x="16686973" y="0"/>
                </a:lnTo>
                <a:lnTo>
                  <a:pt x="16686973" y="4814229"/>
                </a:lnTo>
                <a:lnTo>
                  <a:pt x="0" y="4814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790" t="-420121" r="-20502" b="-1006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76833" y="1642110"/>
            <a:ext cx="7882467" cy="679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4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Realiza-se o primeiro contato com o cliente</a:t>
            </a:r>
          </a:p>
          <a:p>
            <a:pPr algn="l" marL="582930" indent="-291465" lvl="1">
              <a:lnSpc>
                <a:spcPts val="54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Entende-se necessidades e expectativas</a:t>
            </a:r>
          </a:p>
          <a:p>
            <a:pPr algn="l" marL="582930" indent="-291465" lvl="1">
              <a:lnSpc>
                <a:spcPts val="54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Conduz reuniões e faz perguntas importantes</a:t>
            </a:r>
          </a:p>
          <a:p>
            <a:pPr algn="l" marL="582930" indent="-291465" lvl="1">
              <a:lnSpc>
                <a:spcPts val="54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Organiza e documenta os requisitos</a:t>
            </a:r>
          </a:p>
          <a:p>
            <a:pPr algn="l" marL="582930" indent="-291465" lvl="1">
              <a:lnSpc>
                <a:spcPts val="54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Valida as informações com o cliente</a:t>
            </a:r>
          </a:p>
          <a:p>
            <a:pPr algn="l" marL="582930" indent="-291465" lvl="1">
              <a:lnSpc>
                <a:spcPts val="54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Evita erros e confusões na equipe</a:t>
            </a:r>
          </a:p>
          <a:p>
            <a:pPr algn="l" marL="582930" indent="-291465" lvl="1">
              <a:lnSpc>
                <a:spcPts val="54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Define o escopo do projeto (o que será feito ou não)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406615" y="-3883516"/>
            <a:ext cx="14995432" cy="13621935"/>
          </a:xfrm>
          <a:custGeom>
            <a:avLst/>
            <a:gdLst/>
            <a:ahLst/>
            <a:cxnLst/>
            <a:rect r="r" b="b" t="t" l="l"/>
            <a:pathLst>
              <a:path h="13621935" w="14995432">
                <a:moveTo>
                  <a:pt x="0" y="0"/>
                </a:moveTo>
                <a:lnTo>
                  <a:pt x="14995432" y="0"/>
                </a:lnTo>
                <a:lnTo>
                  <a:pt x="14995432" y="13621935"/>
                </a:lnTo>
                <a:lnTo>
                  <a:pt x="0" y="13621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7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53828"/>
            <a:ext cx="6199592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00"/>
              </a:lnSpc>
              <a:spcBef>
                <a:spcPct val="0"/>
              </a:spcBef>
            </a:pPr>
            <a:r>
              <a:rPr lang="en-US" b="true" sz="4750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Como o sistema é construído?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4511" y="1794357"/>
            <a:ext cx="9729697" cy="660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Construção do sistema</a:t>
            </a:r>
          </a:p>
          <a:p>
            <a:pPr algn="l" marL="571587" indent="-28579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Desenvolvedores transformam requisitos em código</a:t>
            </a:r>
          </a:p>
          <a:p>
            <a:pPr algn="l" marL="571587" indent="-28579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Criação das funcionalidades e da interface</a:t>
            </a:r>
          </a:p>
          <a:p>
            <a:pPr algn="l" marL="571587" indent="-28579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Trabalho em equipe para garantir organização e funcionamento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Testes do sistema</a:t>
            </a:r>
          </a:p>
          <a:p>
            <a:pPr algn="l" marL="571587" indent="-28579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Realizados por QA/Testers</a:t>
            </a:r>
          </a:p>
          <a:p>
            <a:pPr algn="l" marL="571587" indent="-28579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Verificam se tudo funciona corretamente</a:t>
            </a:r>
          </a:p>
          <a:p>
            <a:pPr algn="l" marL="571587" indent="-28579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Identificam erros e falhas</a:t>
            </a:r>
          </a:p>
          <a:p>
            <a:pPr algn="l" marL="571587" indent="-28579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Sugerem melhorias</a:t>
            </a:r>
          </a:p>
          <a:p>
            <a:pPr algn="l" marL="571587" indent="-28579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Garantem qualidade antes da entrega</a:t>
            </a:r>
          </a:p>
          <a:p>
            <a:pPr algn="l">
              <a:lnSpc>
                <a:spcPts val="37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264767" y="0"/>
            <a:ext cx="16137436" cy="10287000"/>
          </a:xfrm>
          <a:custGeom>
            <a:avLst/>
            <a:gdLst/>
            <a:ahLst/>
            <a:cxnLst/>
            <a:rect r="r" b="b" t="t" l="l"/>
            <a:pathLst>
              <a:path h="10287000" w="16137436">
                <a:moveTo>
                  <a:pt x="16137437" y="0"/>
                </a:moveTo>
                <a:lnTo>
                  <a:pt x="0" y="0"/>
                </a:lnTo>
                <a:lnTo>
                  <a:pt x="0" y="10287000"/>
                </a:lnTo>
                <a:lnTo>
                  <a:pt x="16137437" y="10287000"/>
                </a:lnTo>
                <a:lnTo>
                  <a:pt x="16137437" y="0"/>
                </a:lnTo>
                <a:close/>
              </a:path>
            </a:pathLst>
          </a:custGeom>
          <a:blipFill>
            <a:blip r:embed="rId2"/>
            <a:stretch>
              <a:fillRect l="0" t="-24139" r="0" b="-2371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72670" y="1700751"/>
            <a:ext cx="11212930" cy="3442749"/>
            <a:chOff x="0" y="0"/>
            <a:chExt cx="14950574" cy="459033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14950574" cy="3134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82"/>
                </a:lnSpc>
              </a:pPr>
              <a:r>
                <a:rPr lang="en-US" sz="7651" b="true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Como o sistema vai pro ar?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099890"/>
              <a:ext cx="14950574" cy="490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4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72670" y="5307958"/>
            <a:ext cx="9259395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Gere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nte coordena a entrega do sistema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Define a data e comunica o cliente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Acompanha os testes finais (QA)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Decide sobre o lançamento em caso de problemas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31848" y="6049841"/>
            <a:ext cx="2702757" cy="1936380"/>
            <a:chOff x="0" y="0"/>
            <a:chExt cx="3603676" cy="258184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23825"/>
              <a:ext cx="3603676" cy="682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6147FF"/>
                  </a:solidFill>
                  <a:latin typeface="Agrandir Wide Ultra-Bold"/>
                  <a:ea typeface="Agrandir Wide Ultra-Bold"/>
                  <a:cs typeface="Agrandir Wide Ultra-Bold"/>
                  <a:sym typeface="Agrandir Wide Ultra-Bold"/>
                </a:rPr>
                <a:t>Passo 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34796"/>
              <a:ext cx="3603676" cy="1647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Analisa</a:t>
              </a: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 a causa do problema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3950" y="6049841"/>
            <a:ext cx="2459408" cy="2106795"/>
            <a:chOff x="0" y="0"/>
            <a:chExt cx="3279211" cy="280905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23825"/>
              <a:ext cx="3279211" cy="682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6147FF"/>
                  </a:solidFill>
                  <a:latin typeface="Agrandir Wide Ultra-Bold"/>
                  <a:ea typeface="Agrandir Wide Ultra-Bold"/>
                  <a:cs typeface="Agrandir Wide Ultra-Bold"/>
                  <a:sym typeface="Agrandir Wide Ultra-Bold"/>
                </a:rPr>
                <a:t>Passo 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79280"/>
              <a:ext cx="3279211" cy="459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34796"/>
              <a:ext cx="3279211" cy="1083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Identificar o problema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19046" y="6049841"/>
            <a:ext cx="2459408" cy="1926012"/>
            <a:chOff x="0" y="0"/>
            <a:chExt cx="3279211" cy="25680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23825"/>
              <a:ext cx="3279211" cy="682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6147FF"/>
                  </a:solidFill>
                  <a:latin typeface="Agrandir Wide Ultra-Bold"/>
                  <a:ea typeface="Agrandir Wide Ultra-Bold"/>
                  <a:cs typeface="Agrandir Wide Ultra-Bold"/>
                  <a:sym typeface="Agrandir Wide Ultra-Bold"/>
                </a:rPr>
                <a:t>Passo 3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34796"/>
              <a:ext cx="3279211" cy="163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Corr</a:t>
              </a: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igir o erro (desenvolvedor)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66418" y="6049841"/>
            <a:ext cx="2680634" cy="1926012"/>
            <a:chOff x="0" y="0"/>
            <a:chExt cx="3574179" cy="256801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23825"/>
              <a:ext cx="3574179" cy="682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800" b="true">
                  <a:solidFill>
                    <a:srgbClr val="6147FF"/>
                  </a:solidFill>
                  <a:latin typeface="Agrandir Wide Ultra-Bold"/>
                  <a:ea typeface="Agrandir Wide Ultra-Bold"/>
                  <a:cs typeface="Agrandir Wide Ultra-Bold"/>
                  <a:sym typeface="Agrandir Wide Ultra-Bold"/>
                </a:rPr>
                <a:t>Passo 4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34796"/>
              <a:ext cx="3574179" cy="163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Tes</a:t>
              </a: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tar novamente a solução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04642" y="6049841"/>
            <a:ext cx="2623881" cy="1936380"/>
            <a:chOff x="0" y="0"/>
            <a:chExt cx="3498508" cy="258184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23825"/>
              <a:ext cx="3279211" cy="682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6147FF"/>
                  </a:solidFill>
                  <a:latin typeface="Agrandir Wide Ultra-Bold"/>
                  <a:ea typeface="Agrandir Wide Ultra-Bold"/>
                  <a:cs typeface="Agrandir Wide Ultra-Bold"/>
                  <a:sym typeface="Agrandir Wide Ultra-Bold"/>
                </a:rPr>
                <a:t>Passo 5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34796"/>
              <a:ext cx="3498508" cy="1647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Atu</a:t>
              </a: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alizar o sistema corrigido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067925" y="-8764931"/>
            <a:ext cx="18621375" cy="13279088"/>
          </a:xfrm>
          <a:custGeom>
            <a:avLst/>
            <a:gdLst/>
            <a:ahLst/>
            <a:cxnLst/>
            <a:rect r="r" b="b" t="t" l="l"/>
            <a:pathLst>
              <a:path h="13279088" w="18621375">
                <a:moveTo>
                  <a:pt x="0" y="0"/>
                </a:moveTo>
                <a:lnTo>
                  <a:pt x="18621375" y="0"/>
                </a:lnTo>
                <a:lnTo>
                  <a:pt x="18621375" y="13279088"/>
                </a:lnTo>
                <a:lnTo>
                  <a:pt x="0" y="132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874" r="-1430" b="-18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677422"/>
            <a:ext cx="11515725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70"/>
              </a:lnSpc>
              <a:spcBef>
                <a:spcPct val="0"/>
              </a:spcBef>
            </a:pPr>
            <a:r>
              <a:rPr lang="en-US" b="true" sz="5725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O que acontece quando dá erro no sistema?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23950" y="5073102"/>
            <a:ext cx="17164050" cy="253591"/>
            <a:chOff x="0" y="0"/>
            <a:chExt cx="22885400" cy="338121"/>
          </a:xfrm>
        </p:grpSpPr>
        <p:sp>
          <p:nvSpPr>
            <p:cNvPr name="AutoShape 21" id="21"/>
            <p:cNvSpPr/>
            <p:nvPr/>
          </p:nvSpPr>
          <p:spPr>
            <a:xfrm rot="0">
              <a:off x="169060" y="156360"/>
              <a:ext cx="22716340" cy="0"/>
            </a:xfrm>
            <a:prstGeom prst="line">
              <a:avLst/>
            </a:prstGeom>
            <a:ln cap="rnd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2" id="22"/>
            <p:cNvGrpSpPr/>
            <p:nvPr/>
          </p:nvGrpSpPr>
          <p:grpSpPr>
            <a:xfrm rot="5423755">
              <a:off x="1156" y="1156"/>
              <a:ext cx="335808" cy="335808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5423755">
              <a:off x="4278354" y="1156"/>
              <a:ext cx="335808" cy="335808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5423755">
              <a:off x="13524447" y="1156"/>
              <a:ext cx="335808" cy="335808"/>
              <a:chOff x="0" y="0"/>
              <a:chExt cx="6350000" cy="635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5423755">
              <a:off x="18108745" y="1156"/>
              <a:ext cx="335808" cy="335808"/>
              <a:chOff x="0" y="0"/>
              <a:chExt cx="6350000" cy="6350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5423755">
              <a:off x="8927951" y="1156"/>
              <a:ext cx="335808" cy="335808"/>
              <a:chOff x="0" y="0"/>
              <a:chExt cx="6350000" cy="6350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DAHGNsFfg4Y</dc:identifier>
  <dcterms:modified xsi:type="dcterms:W3CDTF">2011-08-01T06:04:30Z</dcterms:modified>
  <cp:revision>1</cp:revision>
  <dc:title>Loja Virtual - Slides</dc:title>
</cp:coreProperties>
</file>